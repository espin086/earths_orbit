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45720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65760" y="91440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29" b="1" i="0">
                <a:solidFill>
                  <a:srgbClr val="FFFFFF"/>
                </a:solidFill>
                <a:latin typeface="Verdana"/>
              </a:rPr>
              <a:t>Hi, I'm JJ Espinoza — Jackie's Dad!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Verdana"/>
              </a:rPr>
              <a:t>Nice to meet you, Room 10!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5394960" cy="21488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4F46E5"/>
                </a:solidFill>
                <a:latin typeface="Verdana"/>
              </a:rPr>
              <a:t>🎓 What I studied in school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089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Math (college) and Economics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(grad school) — the study of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numbers, choices, and puzzles.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331720"/>
            <a:ext cx="5394960" cy="21488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560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4F46E5"/>
                </a:solidFill>
                <a:latin typeface="Verdana"/>
              </a:rPr>
              <a:t>💻 What I do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1089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I use math and computers to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solve puzzles for some really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big companies.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89204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Verdana"/>
              </a:rPr>
              <a:t>Today I'll show you how I use those same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Verdana"/>
              </a:rPr>
              <a:t>skills to build something about Earth,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Verdana"/>
              </a:rPr>
              <a:t>the Sun, and the seasons!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Verdana"/>
              </a:rPr>
              <a:t>JJ Espinoza · Room 10 Guest Speaker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29" b="1" i="0">
                <a:solidFill>
                  <a:srgbClr val="0A0A0A"/>
                </a:solidFill>
                <a:latin typeface="Verdana"/>
              </a:rPr>
              <a:t>My career, one AI project at a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2050633" cy="47091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2050633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74520"/>
            <a:ext cx="205063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0A0A0A"/>
                </a:solidFill>
                <a:latin typeface="Verdana"/>
              </a:rPr>
              <a:t>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186775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A"/>
                </a:solidFill>
                <a:latin typeface="Verdana"/>
              </a:rPr>
              <a:t>Disney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977640"/>
            <a:ext cx="183117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AI for ABC TV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audience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8729" y="1463040"/>
            <a:ext cx="2050633" cy="47091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18729" y="1463040"/>
            <a:ext cx="2050633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8729" y="1874520"/>
            <a:ext cx="205063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0A0A0A"/>
                </a:solidFill>
                <a:latin typeface="Verdana"/>
              </a:rPr>
              <a:t>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0169" y="2743200"/>
            <a:ext cx="186775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A"/>
                </a:solidFill>
                <a:latin typeface="Verdana"/>
              </a:rPr>
              <a:t>20th Century</a:t>
            </a:r>
          </a:p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A"/>
                </a:solidFill>
                <a:latin typeface="Verdana"/>
              </a:rPr>
              <a:t>Fox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8457" y="3977640"/>
            <a:ext cx="183117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AI that predicts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which movies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audiences want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0530" y="1463040"/>
            <a:ext cx="2050633" cy="47091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0530" y="1463040"/>
            <a:ext cx="2050633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0530" y="1874520"/>
            <a:ext cx="205063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0A0A0A"/>
                </a:solidFill>
                <a:latin typeface="Verdana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1970" y="2743200"/>
            <a:ext cx="186775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A"/>
                </a:solidFill>
                <a:latin typeface="Verdana"/>
              </a:rPr>
              <a:t>Meta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0258" y="3977640"/>
            <a:ext cx="183117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Best way to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show ads on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Instagram &amp; FB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2332" y="1463040"/>
            <a:ext cx="2050633" cy="47091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22332" y="1463040"/>
            <a:ext cx="2050633" cy="274320"/>
          </a:xfrm>
          <a:prstGeom prst="roundRect">
            <a:avLst>
              <a:gd name="adj" fmla="val 50000"/>
            </a:avLst>
          </a:prstGeom>
          <a:solidFill>
            <a:srgbClr val="F86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2332" y="1874520"/>
            <a:ext cx="205063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0A0A0A"/>
                </a:solidFill>
                <a:latin typeface="Verdana"/>
              </a:rP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3772" y="2743200"/>
            <a:ext cx="186775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A"/>
                </a:solidFill>
                <a:latin typeface="Verdana"/>
              </a:rPr>
              <a:t>Amazon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2060" y="3977640"/>
            <a:ext cx="183117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AI for Amazon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Studios — picks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which shows to make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4133" y="1463040"/>
            <a:ext cx="2050633" cy="470916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74133" y="1463040"/>
            <a:ext cx="2050633" cy="2743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4133" y="1874520"/>
            <a:ext cx="205063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0">
                <a:solidFill>
                  <a:srgbClr val="0A0A0A"/>
                </a:solidFill>
                <a:latin typeface="Verdana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573" y="2743200"/>
            <a:ext cx="186775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A"/>
                </a:solidFill>
                <a:latin typeface="Verdana"/>
              </a:rPr>
              <a:t>My Own</a:t>
            </a:r>
          </a:p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A0A0A"/>
                </a:solidFill>
                <a:latin typeface="Verdana"/>
              </a:rPr>
              <a:t>Company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861" y="3977640"/>
            <a:ext cx="183117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Now: I run my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own company,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building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Verdana"/>
              </a:rPr>
              <a:t>JJ Espinoza · Room 10 Guest Speaker ·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29" b="1" i="0">
                <a:solidFill>
                  <a:srgbClr val="0A0A0A"/>
                </a:solidFill>
                <a:latin typeface="Verdana"/>
              </a:rPr>
              <a:t>A fun project I built for myself: EmoTrack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6B7280"/>
                </a:solidFill>
                <a:latin typeface="Verdana"/>
              </a:rPr>
              <a:t>A webcam app that uses AI to notice how you're feeling — happy, sad, surprised, calm.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fil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965960"/>
            <a:ext cx="155448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657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E5E7EB"/>
                </a:solidFill>
                <a:latin typeface="Verdana"/>
              </a:rPr>
              <a:t>That's me!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0690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5E7EB"/>
                </a:solidFill>
                <a:latin typeface="Verdana"/>
              </a:rPr>
              <a:t>Happy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4087368"/>
            <a:ext cx="3218688" cy="182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325112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5E7EB"/>
                </a:solidFill>
                <a:latin typeface="Verdana"/>
              </a:rPr>
              <a:t>Calm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728" y="4343400"/>
            <a:ext cx="2212848" cy="182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81144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5E7EB"/>
                </a:solidFill>
                <a:latin typeface="Verdana"/>
              </a:rPr>
              <a:t>Surprised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4599432"/>
            <a:ext cx="1207008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1691640"/>
            <a:ext cx="5394960" cy="32461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6" y="196596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0A0A0A"/>
                </a:solidFill>
                <a:latin typeface="Verdana"/>
              </a:rPr>
              <a:t>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6" y="2011680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Reads your face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through the webcam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301752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0A0A0A"/>
                </a:solidFill>
                <a:latin typeface="Verdana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3063240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Turns it into charts —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happy today vs. usual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406908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0A0A0A"/>
                </a:solidFill>
                <a:latin typeface="Verdana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4114800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Same skill as my movie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work: find the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Verdana"/>
              </a:rPr>
              <a:t>JJ Espinoza · Room 10 Guest Speaker · 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29" b="1" i="0">
                <a:solidFill>
                  <a:srgbClr val="0A0A0A"/>
                </a:solidFill>
                <a:latin typeface="Verdana"/>
              </a:rPr>
              <a:t>A few pictures from along the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6B7280"/>
                </a:solidFill>
                <a:latin typeface="Verdana"/>
              </a:rPr>
              <a:t>(JJ: drop 2 more real photos into the empty boxes before the visit — Insert &gt; Pictures)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3551834" cy="411480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fil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25" y="214884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4754880"/>
            <a:ext cx="318607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Verdana"/>
              </a:rPr>
              <a:t>That's me, JJ!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9930" y="1691640"/>
            <a:ext cx="3551834" cy="41148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254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4250" y="3246120"/>
            <a:ext cx="300319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6B7280"/>
                </a:solidFill>
                <a:latin typeface="Verdana"/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4250" y="4069080"/>
            <a:ext cx="300319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Speaking at UCLA's Smart Grid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Energy Research 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2932" y="1691640"/>
            <a:ext cx="3551834" cy="41148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254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7252" y="3246120"/>
            <a:ext cx="300319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i="0">
                <a:solidFill>
                  <a:srgbClr val="6B7280"/>
                </a:solidFill>
                <a:latin typeface="Verdana"/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7252" y="4069080"/>
            <a:ext cx="300319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In the news / interview</a:t>
            </a:r>
          </a:p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6B7280"/>
                </a:solidFill>
                <a:latin typeface="Verdana"/>
              </a:rPr>
              <a:t>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Verdana"/>
              </a:rPr>
              <a:t>JJ Espinoza · Room 10 Guest Speaker · October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29" b="1" i="0">
                <a:solidFill>
                  <a:srgbClr val="0A0A0A"/>
                </a:solidFill>
                <a:latin typeface="Verdana"/>
              </a:rPr>
              <a:t>How I built today's website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6B7280"/>
                </a:solidFill>
                <a:latin typeface="Verdana"/>
              </a:rPr>
              <a:t>I didn't draw this by hand — I gave an AI careful instructions, like this: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3063240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37360"/>
            <a:ext cx="10332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5E7EB"/>
                </a:solidFill>
                <a:latin typeface="Menlo"/>
              </a:rPr>
              <a:t>Build an interactive webpage for 5th graders that shows: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5E7EB"/>
                </a:solidFill>
                <a:latin typeface="Menlo"/>
              </a:rPr>
              <a:t>1) why far-away planets look smaller (relative size), and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5E7EB"/>
                </a:solidFill>
                <a:latin typeface="Menlo"/>
              </a:rPr>
              <a:t>2) why Earth has seasons (its tilt, not its distance to the Sun).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5E7EB"/>
                </a:solidFill>
                <a:latin typeface="Menl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5E7EB"/>
                </a:solidFill>
                <a:latin typeface="Menlo"/>
              </a:rPr>
              <a:t>Base every fact on real physics and real NASA/JPL data.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5E7EB"/>
                </a:solidFill>
                <a:latin typeface="Menlo"/>
              </a:rPr>
              <a:t>Double- and triple-check the numbers before using them.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E5E7EB"/>
                </a:solidFill>
                <a:latin typeface="Menlo"/>
              </a:rPr>
              <a:t>Give me sources so I can verify everything is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Verdana"/>
              </a:rPr>
              <a:t>The AI wrote real code — I checked it, tested it, and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Verdana"/>
              </a:rPr>
              <a:t>fixed anything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6B7280"/>
                </a:solidFill>
                <a:latin typeface="Verdana"/>
              </a:rPr>
              <a:t>That's the whole job: ask good questions, check the answers, don't trust it blindly.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Verdana"/>
              </a:rPr>
              <a:t>JJ Espinoza · Room 10 Guest Speaker · October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-457200"/>
            <a:ext cx="1463040" cy="1463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65760" y="91440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29" b="1" i="0">
                <a:solidFill>
                  <a:srgbClr val="FFFFFF"/>
                </a:solidFill>
                <a:latin typeface="Verdana"/>
              </a:rPr>
              <a:t>Let's look at the website — focused on</a:t>
            </a:r>
          </a:p>
          <a:p>
            <a:pPr algn="l">
              <a:lnSpc>
                <a:spcPct val="115000"/>
              </a:lnSpc>
            </a:pPr>
            <a:r>
              <a:rPr sz="3529" b="1" i="0">
                <a:solidFill>
                  <a:srgbClr val="FFFFFF"/>
                </a:solidFill>
                <a:latin typeface="Verdana"/>
              </a:rPr>
              <a:t>what Mrs. Horton's class is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5394960" cy="21488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560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4F46E5"/>
                </a:solidFill>
                <a:latin typeface="Verdana"/>
              </a:rPr>
              <a:t>🔭 Why far away = smaller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1089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Relative size — the same idea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as your distance science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standard.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331720"/>
            <a:ext cx="5394960" cy="21488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5603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4F46E5"/>
                </a:solidFill>
                <a:latin typeface="Verdana"/>
              </a:rPr>
              <a:t>🌍 Why we have seasons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310896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Earth's tilt and orbit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around the Sun —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A0A0A"/>
                </a:solidFill>
                <a:latin typeface="Verdana"/>
              </a:rPr>
              <a:t>animated!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8006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6B7280"/>
                </a:solidFill>
                <a:latin typeface="Verdana"/>
              </a:rPr>
              <a:t>Bonus: scientists use exponents for numbers this big and this small.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A0A0A"/>
                </a:solidFill>
                <a:latin typeface="Verdana"/>
              </a:rPr>
              <a:t>Let's pull it up and take a look — then, 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280"/>
                </a:solidFill>
                <a:latin typeface="Verdana"/>
              </a:rPr>
              <a:t>JJ Espinoza · Room 10 Guest Speaker ·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